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D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F3330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2A8077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A8077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B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BISHOPS HULL HUB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Process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5641848" y="3840480"/>
            <a:ext cx="914400" cy="45720"/>
          </a:xfrm>
          <a:prstGeom prst="rect">
            <a:avLst/>
          </a:prstGeom>
          <a:solidFill>
            <a:srgbClr val="B8D8D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walk-through for the booking team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enquiry to deposit return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4D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 — from a hirer pressing "Submit" to the deposit being returned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493008"/>
            <a:ext cx="11247120" cy="36576"/>
          </a:xfrm>
          <a:prstGeom prst="rect">
            <a:avLst/>
          </a:prstGeom>
          <a:solidFill>
            <a:srgbClr val="B8D8D4"/>
          </a:solidFill>
          <a:ln/>
        </p:spPr>
      </p:sp>
      <p:sp>
        <p:nvSpPr>
          <p:cNvPr id="6" name="Shape 4"/>
          <p:cNvSpPr/>
          <p:nvPr/>
        </p:nvSpPr>
        <p:spPr>
          <a:xfrm>
            <a:off x="740664" y="3108960"/>
            <a:ext cx="914400" cy="9144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86584" y="310896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86584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03120" y="416052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32504" y="310896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32504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749040" y="416052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78424" y="3108960"/>
            <a:ext cx="914400" cy="914400"/>
          </a:xfrm>
          <a:prstGeom prst="ellipse">
            <a:avLst/>
          </a:prstGeom>
          <a:solidFill>
            <a:srgbClr val="1A4D46"/>
          </a:solidFill>
          <a:ln w="12700">
            <a:solidFill>
              <a:srgbClr val="1A4D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78424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394960" y="416052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24344" y="3108960"/>
            <a:ext cx="914400" cy="9144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4344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040880" y="416052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70264" y="3108960"/>
            <a:ext cx="914400" cy="9144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70264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686800" y="416052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takes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616184" y="3108960"/>
            <a:ext cx="914400" cy="91440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16184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0332720" y="416052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801368" y="3401568"/>
            <a:ext cx="329184" cy="329184"/>
          </a:xfrm>
          <a:prstGeom prst="rightArrow">
            <a:avLst/>
          </a:prstGeom>
          <a:solidFill>
            <a:srgbClr val="2A8077"/>
          </a:solidFill>
          <a:ln w="12700">
            <a:solidFill>
              <a:srgbClr val="2A80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47288" y="3401568"/>
            <a:ext cx="329184" cy="329184"/>
          </a:xfrm>
          <a:prstGeom prst="rightArrow">
            <a:avLst/>
          </a:prstGeom>
          <a:solidFill>
            <a:srgbClr val="2A8077"/>
          </a:solidFill>
          <a:ln w="12700">
            <a:solidFill>
              <a:srgbClr val="2A807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93208" y="3401568"/>
            <a:ext cx="329184" cy="329184"/>
          </a:xfrm>
          <a:prstGeom prst="rightArrow">
            <a:avLst/>
          </a:prstGeom>
          <a:solidFill>
            <a:srgbClr val="2A8077"/>
          </a:solidFill>
          <a:ln w="12700">
            <a:solidFill>
              <a:srgbClr val="2A80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39128" y="3401568"/>
            <a:ext cx="329184" cy="329184"/>
          </a:xfrm>
          <a:prstGeom prst="rightArrow">
            <a:avLst/>
          </a:prstGeom>
          <a:solidFill>
            <a:srgbClr val="2A8077"/>
          </a:solidFill>
          <a:ln w="12700">
            <a:solidFill>
              <a:srgbClr val="2A80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85048" y="3401568"/>
            <a:ext cx="329184" cy="329184"/>
          </a:xfrm>
          <a:prstGeom prst="rightArrow">
            <a:avLst/>
          </a:prstGeom>
          <a:solidFill>
            <a:srgbClr val="2A8077"/>
          </a:solidFill>
          <a:ln w="12700">
            <a:solidFill>
              <a:srgbClr val="2A80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30968" y="3401568"/>
            <a:ext cx="329184" cy="329184"/>
          </a:xfrm>
          <a:prstGeom prst="rightArrow">
            <a:avLst/>
          </a:prstGeom>
          <a:solidFill>
            <a:srgbClr val="2A8077"/>
          </a:solidFill>
          <a:ln w="12700">
            <a:solidFill>
              <a:srgbClr val="2A80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212080"/>
            <a:ext cx="1124712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 the right people are automatically kept in the loop by email.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manager only needs to take action at four points — everything else happens on its own.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Bishops Hull Hub  ·  Booking Process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4D4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received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potential hirer fills in the booking form on the website.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2011680" cy="20116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603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49377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468880"/>
            <a:ext cx="109728" cy="3657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3063240"/>
            <a:ext cx="44805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Hirer submits the booking form online.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lands automatically on the Admin Portal.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 yet — the booking manager will pick it up next.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246888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1A4D4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29718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823960" y="3200400"/>
            <a:ext cx="411480" cy="292608"/>
          </a:xfrm>
          <a:prstGeom prst="rect">
            <a:avLst/>
          </a:prstGeom>
          <a:solidFill>
            <a:srgbClr val="2A8077"/>
          </a:solidFill>
          <a:ln/>
        </p:spPr>
      </p:sp>
      <p:sp>
        <p:nvSpPr>
          <p:cNvPr id="19" name="Shape 17"/>
          <p:cNvSpPr/>
          <p:nvPr/>
        </p:nvSpPr>
        <p:spPr>
          <a:xfrm>
            <a:off x="8823960" y="3200400"/>
            <a:ext cx="205740" cy="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9700" y="3346704"/>
            <a:ext cx="205740" cy="-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30449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0" y="33558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we have received their enquiry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0" y="38862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823960" y="4114800"/>
            <a:ext cx="411480" cy="292608"/>
          </a:xfrm>
          <a:prstGeom prst="rect">
            <a:avLst/>
          </a:prstGeom>
          <a:solidFill>
            <a:srgbClr val="2A8077"/>
          </a:solidFill>
          <a:ln/>
        </p:spPr>
      </p:sp>
      <p:sp>
        <p:nvSpPr>
          <p:cNvPr id="25" name="Shape 23"/>
          <p:cNvSpPr/>
          <p:nvPr/>
        </p:nvSpPr>
        <p:spPr>
          <a:xfrm>
            <a:off x="8823960" y="4114800"/>
            <a:ext cx="205740" cy="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29700" y="4261104"/>
            <a:ext cx="205740" cy="-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39593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0" y="42702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enquiry details to review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Bishops Hull Hub  ·  Booking Process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4D4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for Security Review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manager asks the Security Team to check the event.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2011680" cy="20116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603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49377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468880"/>
            <a:ext cx="109728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3063240"/>
            <a:ext cx="44805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enquiry on the Admin Portal.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"Request Security Review".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stays on hold until the Security Team responds.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246888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1A4D4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29718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823960" y="3200400"/>
            <a:ext cx="411480" cy="292608"/>
          </a:xfrm>
          <a:prstGeom prst="rect">
            <a:avLst/>
          </a:prstGeom>
          <a:solidFill>
            <a:srgbClr val="2A8077"/>
          </a:solidFill>
          <a:ln/>
        </p:spPr>
      </p:sp>
      <p:sp>
        <p:nvSpPr>
          <p:cNvPr id="19" name="Shape 17"/>
          <p:cNvSpPr/>
          <p:nvPr/>
        </p:nvSpPr>
        <p:spPr>
          <a:xfrm>
            <a:off x="8823960" y="3200400"/>
            <a:ext cx="205740" cy="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9700" y="3346704"/>
            <a:ext cx="205740" cy="-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30449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0" y="33558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details + approval link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0" y="38862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823960" y="4114800"/>
            <a:ext cx="411480" cy="292608"/>
          </a:xfrm>
          <a:prstGeom prst="rect">
            <a:avLst/>
          </a:prstGeom>
          <a:solidFill>
            <a:srgbClr val="2A8077"/>
          </a:solidFill>
          <a:ln/>
        </p:spPr>
      </p:sp>
      <p:sp>
        <p:nvSpPr>
          <p:cNvPr id="25" name="Shape 23"/>
          <p:cNvSpPr/>
          <p:nvPr/>
        </p:nvSpPr>
        <p:spPr>
          <a:xfrm>
            <a:off x="8823960" y="4114800"/>
            <a:ext cx="205740" cy="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29700" y="4261104"/>
            <a:ext cx="205740" cy="-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39593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0" y="42702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of the request for records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Bishops Hull Hub  ·  Booking Process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4D4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Venue Visit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of the Security Team approves the event, and a venue visit takes place.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2011680" cy="20116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603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49377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468880"/>
            <a:ext cx="109728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3063240"/>
            <a:ext cx="44805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 approves via their email link.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moves to "Visit Complete" on the portal.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this point the booking manager has visited the hirer to discuss plans.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246888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1A4D4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4114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emails at this step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Bishops Hull Hub  ·  Booking Process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4D4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A4D4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Hire Confirmation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manager sends the hirer the formal confirmation pack.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2011680" cy="2011680"/>
          </a:xfrm>
          <a:prstGeom prst="ellipse">
            <a:avLst/>
          </a:prstGeom>
          <a:solidFill>
            <a:srgbClr val="1A4D46"/>
          </a:solidFill>
          <a:ln w="12700">
            <a:solidFill>
              <a:srgbClr val="1A4D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603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49377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468880"/>
            <a:ext cx="109728" cy="3657600"/>
          </a:xfrm>
          <a:prstGeom prst="rect">
            <a:avLst/>
          </a:prstGeom>
          <a:solidFill>
            <a:srgbClr val="1A4D46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3063240"/>
            <a:ext cx="44805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"Send Confirmation" on the portal.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Hirer receives a link to read the conditions, sign and provide bank details.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can be resent if the hirer needs a reminder.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246888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1A4D4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29718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823960" y="3200400"/>
            <a:ext cx="411480" cy="292608"/>
          </a:xfrm>
          <a:prstGeom prst="rect">
            <a:avLst/>
          </a:prstGeom>
          <a:solidFill>
            <a:srgbClr val="2A8077"/>
          </a:solidFill>
          <a:ln/>
        </p:spPr>
      </p:sp>
      <p:sp>
        <p:nvSpPr>
          <p:cNvPr id="19" name="Shape 17"/>
          <p:cNvSpPr/>
          <p:nvPr/>
        </p:nvSpPr>
        <p:spPr>
          <a:xfrm>
            <a:off x="8823960" y="3200400"/>
            <a:ext cx="205740" cy="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9700" y="3346704"/>
            <a:ext cx="205740" cy="-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30449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0" y="33558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sign hire conditions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Bishops Hull Hub  ·  Booking Process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4D4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Hirer signs &amp; confirms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hirer accepts the conditions, signs, and provides their bank details.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2011680" cy="20116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603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49377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468880"/>
            <a:ext cx="109728" cy="3657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3063240"/>
            <a:ext cx="44805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hire conditions and signs online.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bank details for the future deposit return.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moves to "Hire Confirmed" on the portal.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246888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1A4D4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29718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823960" y="3200400"/>
            <a:ext cx="411480" cy="292608"/>
          </a:xfrm>
          <a:prstGeom prst="rect">
            <a:avLst/>
          </a:prstGeom>
          <a:solidFill>
            <a:srgbClr val="2A8077"/>
          </a:solidFill>
          <a:ln/>
        </p:spPr>
      </p:sp>
      <p:sp>
        <p:nvSpPr>
          <p:cNvPr id="19" name="Shape 17"/>
          <p:cNvSpPr/>
          <p:nvPr/>
        </p:nvSpPr>
        <p:spPr>
          <a:xfrm>
            <a:off x="8823960" y="3200400"/>
            <a:ext cx="205740" cy="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9700" y="3346704"/>
            <a:ext cx="205740" cy="-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30449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0" y="33558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agreement + bank details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0" y="38862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823960" y="4114800"/>
            <a:ext cx="411480" cy="292608"/>
          </a:xfrm>
          <a:prstGeom prst="rect">
            <a:avLst/>
          </a:prstGeom>
          <a:solidFill>
            <a:srgbClr val="2A8077"/>
          </a:solidFill>
          <a:ln/>
        </p:spPr>
      </p:sp>
      <p:sp>
        <p:nvSpPr>
          <p:cNvPr id="25" name="Shape 23"/>
          <p:cNvSpPr/>
          <p:nvPr/>
        </p:nvSpPr>
        <p:spPr>
          <a:xfrm>
            <a:off x="8823960" y="4114800"/>
            <a:ext cx="205740" cy="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29700" y="4261104"/>
            <a:ext cx="205740" cy="-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39593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0" y="42702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 &amp; copy of conditions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Bishops Hull Hub  ·  Booking Process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4D4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4755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hire takes place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happens. After the date, the booking moves on automatically.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2011680" cy="201168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603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— automatic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49377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468880"/>
            <a:ext cx="109728" cy="3657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3063240"/>
            <a:ext cx="44805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day of the event, the hire goes ahead as agreed.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event date, the booking moves to "Hire Complete".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deposit-return task appears for the booking manager.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246888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1A4D4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4114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emails at this step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Bishops Hull Hub  ·  Booking Process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4D4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CA8A0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deposit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manager authorises the refund — full or with a deduction.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2011680" cy="201168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603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49377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468880"/>
            <a:ext cx="109728" cy="365760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3063240"/>
            <a:ext cx="44805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Deposit Returns page on the portal.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"Full Deposit Return" or "Deduction" (with a reason).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Treasurer receives the instruction and pays the hirer.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246888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1A4D4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29718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823960" y="3200400"/>
            <a:ext cx="411480" cy="292608"/>
          </a:xfrm>
          <a:prstGeom prst="rect">
            <a:avLst/>
          </a:prstGeom>
          <a:solidFill>
            <a:srgbClr val="2A8077"/>
          </a:solidFill>
          <a:ln/>
        </p:spPr>
      </p:sp>
      <p:sp>
        <p:nvSpPr>
          <p:cNvPr id="19" name="Shape 17"/>
          <p:cNvSpPr/>
          <p:nvPr/>
        </p:nvSpPr>
        <p:spPr>
          <a:xfrm>
            <a:off x="8823960" y="3200400"/>
            <a:ext cx="205740" cy="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9700" y="3346704"/>
            <a:ext cx="205740" cy="-14630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30449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Treasurer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0" y="33558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amount + hirer bank details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Bishops Hull Hub  ·  Booking Process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4D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hears what — and when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keeps the right people informed automatically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2011680"/>
                <a:gridCol w="201168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4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Enquiry submitted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4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Security review requested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4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Approval &amp; visit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4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Confirmation 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4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Hirer signs &amp; confirms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4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Hire takes place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4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Deposit returned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94360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= email sent automatically     ·     —  = no email at this step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Bishops Hull Hub  ·  Booking Process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4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2A807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2A807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B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nutshell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simple actions, one smooth process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18008" y="2743200"/>
            <a:ext cx="2651760" cy="29260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455268" y="3017520"/>
            <a:ext cx="777240" cy="777240"/>
          </a:xfrm>
          <a:prstGeom prst="ellipse">
            <a:avLst/>
          </a:prstGeom>
          <a:solidFill>
            <a:srgbClr val="1A4D46"/>
          </a:solidFill>
          <a:ln/>
        </p:spPr>
      </p:sp>
      <p:sp>
        <p:nvSpPr>
          <p:cNvPr id="8" name="Text 6"/>
          <p:cNvSpPr/>
          <p:nvPr/>
        </p:nvSpPr>
        <p:spPr>
          <a:xfrm>
            <a:off x="1455268" y="3017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46608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Security Review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6608" y="4663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enquiry to the Security Team for a safety check.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52648" y="2743200"/>
            <a:ext cx="2651760" cy="29260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289908" y="3017520"/>
            <a:ext cx="777240" cy="777240"/>
          </a:xfrm>
          <a:prstGeom prst="ellipse">
            <a:avLst/>
          </a:prstGeom>
          <a:solidFill>
            <a:srgbClr val="1A4D46"/>
          </a:solidFill>
          <a:ln/>
        </p:spPr>
      </p:sp>
      <p:sp>
        <p:nvSpPr>
          <p:cNvPr id="13" name="Text 11"/>
          <p:cNvSpPr/>
          <p:nvPr/>
        </p:nvSpPr>
        <p:spPr>
          <a:xfrm>
            <a:off x="4289908" y="3017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581248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Confirmation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248" y="4663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hirer the link to sign the agreement.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87288" y="2743200"/>
            <a:ext cx="2651760" cy="29260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124548" y="3017520"/>
            <a:ext cx="777240" cy="777240"/>
          </a:xfrm>
          <a:prstGeom prst="ellipse">
            <a:avLst/>
          </a:prstGeom>
          <a:solidFill>
            <a:srgbClr val="1A4D46"/>
          </a:solidFill>
          <a:ln/>
        </p:spPr>
      </p:sp>
      <p:sp>
        <p:nvSpPr>
          <p:cNvPr id="18" name="Text 16"/>
          <p:cNvSpPr/>
          <p:nvPr/>
        </p:nvSpPr>
        <p:spPr>
          <a:xfrm>
            <a:off x="7124548" y="3017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15888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hire date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15888" y="4663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moves the booking forward on its own.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21928" y="2743200"/>
            <a:ext cx="2651760" cy="29260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959188" y="3017520"/>
            <a:ext cx="777240" cy="777240"/>
          </a:xfrm>
          <a:prstGeom prst="ellipse">
            <a:avLst/>
          </a:prstGeom>
          <a:solidFill>
            <a:srgbClr val="1A4D46"/>
          </a:solidFill>
          <a:ln/>
        </p:spPr>
      </p:sp>
      <p:sp>
        <p:nvSpPr>
          <p:cNvPr id="23" name="Text 21"/>
          <p:cNvSpPr/>
          <p:nvPr/>
        </p:nvSpPr>
        <p:spPr>
          <a:xfrm>
            <a:off x="9959188" y="3017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250528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4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 Deposit Return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50528" y="4663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Treasurer to refund — full or with a deduction.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the emails, status updates, and reminders — happens automatically.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Booking Process Overview</dc:title>
  <dc:subject>How the booking process works</dc:subject>
  <dc:creator>Bishops Hull Hub</dc:creator>
  <cp:lastModifiedBy>Bishops Hull Hub</cp:lastModifiedBy>
  <cp:revision>1</cp:revision>
  <dcterms:created xsi:type="dcterms:W3CDTF">2026-05-16T06:37:48Z</dcterms:created>
  <dcterms:modified xsi:type="dcterms:W3CDTF">2026-05-16T06:37:48Z</dcterms:modified>
</cp:coreProperties>
</file>